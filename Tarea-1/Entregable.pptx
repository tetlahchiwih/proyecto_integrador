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Roboto Bold" charset="1" panose="02000000000000000000"/>
      <p:regular r:id="rId7"/>
    </p:embeddedFont>
    <p:embeddedFont>
      <p:font typeface="Roboto" charset="1" panose="02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982450" cy="3219450"/>
          </a:xfrm>
          <a:custGeom>
            <a:avLst/>
            <a:gdLst/>
            <a:ahLst/>
            <a:cxnLst/>
            <a:rect r="r" b="b" t="t" l="l"/>
            <a:pathLst>
              <a:path h="3219450" w="11982450">
                <a:moveTo>
                  <a:pt x="0" y="0"/>
                </a:moveTo>
                <a:lnTo>
                  <a:pt x="11982450" y="0"/>
                </a:lnTo>
                <a:lnTo>
                  <a:pt x="119824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53850" y="0"/>
            <a:ext cx="6534150" cy="3219450"/>
          </a:xfrm>
          <a:custGeom>
            <a:avLst/>
            <a:gdLst/>
            <a:ahLst/>
            <a:cxnLst/>
            <a:rect r="r" b="b" t="t" l="l"/>
            <a:pathLst>
              <a:path h="3219450" w="6534150">
                <a:moveTo>
                  <a:pt x="0" y="0"/>
                </a:moveTo>
                <a:lnTo>
                  <a:pt x="6534150" y="0"/>
                </a:lnTo>
                <a:lnTo>
                  <a:pt x="65341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0624" y="341376"/>
            <a:ext cx="1108252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spc="-20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Investigación de Mercado TI: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0624" y="1440561"/>
            <a:ext cx="1216152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7"/>
              </a:lnSpc>
            </a:pPr>
            <a:r>
              <a:rPr lang="en-US" sz="5031" spc="-150" b="true">
                <a:solidFill>
                  <a:srgbClr val="37C9F4"/>
                </a:solidFill>
                <a:latin typeface="Roboto Bold"/>
                <a:ea typeface="Roboto Bold"/>
                <a:cs typeface="Roboto Bold"/>
                <a:sym typeface="Roboto Bold"/>
              </a:rPr>
              <a:t>Perfil Profesional &amp; Mesa de Servicio (L1)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09550" y="3000375"/>
            <a:ext cx="8724900" cy="3648075"/>
          </a:xfrm>
          <a:custGeom>
            <a:avLst/>
            <a:gdLst/>
            <a:ahLst/>
            <a:cxnLst/>
            <a:rect r="r" b="b" t="t" l="l"/>
            <a:pathLst>
              <a:path h="3648075" w="8724900">
                <a:moveTo>
                  <a:pt x="0" y="0"/>
                </a:moveTo>
                <a:lnTo>
                  <a:pt x="8724900" y="0"/>
                </a:lnTo>
                <a:lnTo>
                  <a:pt x="87249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625" y="3429000"/>
            <a:ext cx="2409825" cy="2571750"/>
          </a:xfrm>
          <a:custGeom>
            <a:avLst/>
            <a:gdLst/>
            <a:ahLst/>
            <a:cxnLst/>
            <a:rect r="r" b="b" t="t" l="l"/>
            <a:pathLst>
              <a:path h="2571750" w="2409825">
                <a:moveTo>
                  <a:pt x="0" y="0"/>
                </a:moveTo>
                <a:lnTo>
                  <a:pt x="2409825" y="0"/>
                </a:lnTo>
                <a:lnTo>
                  <a:pt x="24098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7700" y="3857625"/>
            <a:ext cx="1971675" cy="1714500"/>
          </a:xfrm>
          <a:custGeom>
            <a:avLst/>
            <a:gdLst/>
            <a:ahLst/>
            <a:cxnLst/>
            <a:rect r="r" b="b" t="t" l="l"/>
            <a:pathLst>
              <a:path h="1714500" w="1971675">
                <a:moveTo>
                  <a:pt x="0" y="0"/>
                </a:moveTo>
                <a:lnTo>
                  <a:pt x="1971675" y="0"/>
                </a:lnTo>
                <a:lnTo>
                  <a:pt x="1971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28925" y="3429000"/>
            <a:ext cx="219075" cy="2790825"/>
          </a:xfrm>
          <a:custGeom>
            <a:avLst/>
            <a:gdLst/>
            <a:ahLst/>
            <a:cxnLst/>
            <a:rect r="r" b="b" t="t" l="l"/>
            <a:pathLst>
              <a:path h="2790825" w="219075">
                <a:moveTo>
                  <a:pt x="0" y="0"/>
                </a:moveTo>
                <a:lnTo>
                  <a:pt x="219075" y="0"/>
                </a:lnTo>
                <a:lnTo>
                  <a:pt x="2190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36976" y="4070033"/>
            <a:ext cx="367588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Rol: primer punto de contacto (SPOC)</a:t>
            </a:r>
          </a:p>
          <a:p>
            <a:pPr algn="l">
              <a:lnSpc>
                <a:spcPts val="2166"/>
              </a:lnSpc>
            </a:pPr>
            <a:r>
              <a:rPr lang="en-US" sz="1805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para usuarios corporativos.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36976" y="4759643"/>
            <a:ext cx="501091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Alcance: diágnostico de incidentes, reseteo de accesos, soporte a SO y periféricos, seguimiento por tickets y escalamiento estructurado.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36976" y="5674805"/>
            <a:ext cx="407822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769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Marco: basado en buenas prácticas de ITIL</a:t>
            </a:r>
          </a:p>
          <a:p>
            <a:pPr algn="l">
              <a:lnSpc>
                <a:spcPts val="2123"/>
              </a:lnSpc>
            </a:pPr>
            <a:r>
              <a:rPr lang="en-US" sz="1769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 resolución en primer contacto (FCR).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05850" y="3000375"/>
            <a:ext cx="9372600" cy="3648075"/>
          </a:xfrm>
          <a:custGeom>
            <a:avLst/>
            <a:gdLst/>
            <a:ahLst/>
            <a:cxnLst/>
            <a:rect r="r" b="b" t="t" l="l"/>
            <a:pathLst>
              <a:path h="3648075" w="9372600">
                <a:moveTo>
                  <a:pt x="0" y="0"/>
                </a:moveTo>
                <a:lnTo>
                  <a:pt x="9372600" y="0"/>
                </a:lnTo>
                <a:lnTo>
                  <a:pt x="93726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3429000"/>
            <a:ext cx="2181225" cy="2571750"/>
          </a:xfrm>
          <a:custGeom>
            <a:avLst/>
            <a:gdLst/>
            <a:ahLst/>
            <a:cxnLst/>
            <a:rect r="r" b="b" t="t" l="l"/>
            <a:pathLst>
              <a:path h="2571750" w="2181225">
                <a:moveTo>
                  <a:pt x="0" y="0"/>
                </a:moveTo>
                <a:lnTo>
                  <a:pt x="2181225" y="0"/>
                </a:lnTo>
                <a:lnTo>
                  <a:pt x="21812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353550" y="3857625"/>
            <a:ext cx="1752600" cy="1714500"/>
          </a:xfrm>
          <a:custGeom>
            <a:avLst/>
            <a:gdLst/>
            <a:ahLst/>
            <a:cxnLst/>
            <a:rect r="r" b="b" t="t" l="l"/>
            <a:pathLst>
              <a:path h="1714500" w="17526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315700" y="3429000"/>
            <a:ext cx="228600" cy="2790825"/>
          </a:xfrm>
          <a:custGeom>
            <a:avLst/>
            <a:gdLst/>
            <a:ahLst/>
            <a:cxnLst/>
            <a:rect r="r" b="b" t="t" l="l"/>
            <a:pathLst>
              <a:path h="2790825" w="228600">
                <a:moveTo>
                  <a:pt x="0" y="0"/>
                </a:moveTo>
                <a:lnTo>
                  <a:pt x="228600" y="0"/>
                </a:lnTo>
                <a:lnTo>
                  <a:pt x="228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631168" y="3526346"/>
            <a:ext cx="54132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spc="-62" b="true">
                <a:solidFill>
                  <a:srgbClr val="37C9F4"/>
                </a:solidFill>
                <a:latin typeface="Roboto Bold"/>
                <a:ea typeface="Roboto Bold"/>
                <a:cs typeface="Roboto Bold"/>
                <a:sym typeface="Roboto Bold"/>
              </a:rPr>
              <a:t>2. Análisis de Vacantes del Mercado (5 Perfiles)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31168" y="3961638"/>
            <a:ext cx="475488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spc="-5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Fuentes: LinkedIn, Computrabajo, OCC e Indeed.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31168" y="4385881"/>
            <a:ext cx="5815584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spc="-5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Roles más demandados: Service Desk L1, Mesa Operativa, Help Desk Jr y Técnico en Sitio/TPV.</a:t>
            </a:r>
          </a:p>
          <a:p>
            <a:pPr algn="l">
              <a:lnSpc>
                <a:spcPts val="2293"/>
              </a:lnSpc>
            </a:pPr>
            <a:r>
              <a:rPr lang="en-US" sz="1911" spc="-5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Requisitos clave: Windows 10/11, MS 365, Active Directory / Entre ID, tickets (Jira/ServiceNow), soporte remoto (AnyDesk), redes básicas y hardware.</a:t>
            </a:r>
          </a:p>
          <a:p>
            <a:pPr algn="l">
              <a:lnSpc>
                <a:spcPts val="2293"/>
              </a:lnSpc>
            </a:pPr>
            <a:r>
              <a:rPr lang="en-US" sz="1911" spc="-5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Experiencia común: prácticas a 1 año en soporte a usuarios y procedimientos estándar.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09550" y="6429375"/>
            <a:ext cx="8724900" cy="3648075"/>
          </a:xfrm>
          <a:custGeom>
            <a:avLst/>
            <a:gdLst/>
            <a:ahLst/>
            <a:cxnLst/>
            <a:rect r="r" b="b" t="t" l="l"/>
            <a:pathLst>
              <a:path h="3648075" w="8724900">
                <a:moveTo>
                  <a:pt x="0" y="0"/>
                </a:moveTo>
                <a:lnTo>
                  <a:pt x="8724900" y="0"/>
                </a:lnTo>
                <a:lnTo>
                  <a:pt x="87249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28625" y="6858000"/>
            <a:ext cx="2409825" cy="2362200"/>
          </a:xfrm>
          <a:custGeom>
            <a:avLst/>
            <a:gdLst/>
            <a:ahLst/>
            <a:cxnLst/>
            <a:rect r="r" b="b" t="t" l="l"/>
            <a:pathLst>
              <a:path h="2362200" w="2409825">
                <a:moveTo>
                  <a:pt x="0" y="0"/>
                </a:moveTo>
                <a:lnTo>
                  <a:pt x="2409825" y="0"/>
                </a:lnTo>
                <a:lnTo>
                  <a:pt x="24098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47700" y="706755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828925" y="6858000"/>
            <a:ext cx="219075" cy="3000375"/>
          </a:xfrm>
          <a:custGeom>
            <a:avLst/>
            <a:gdLst/>
            <a:ahLst/>
            <a:cxnLst/>
            <a:rect r="r" b="b" t="t" l="l"/>
            <a:pathLst>
              <a:path h="3000375" w="219075">
                <a:moveTo>
                  <a:pt x="0" y="0"/>
                </a:moveTo>
                <a:lnTo>
                  <a:pt x="219075" y="0"/>
                </a:lnTo>
                <a:lnTo>
                  <a:pt x="219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236976" y="6921055"/>
            <a:ext cx="40416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spc="-62" b="true">
                <a:solidFill>
                  <a:srgbClr val="37C9F4"/>
                </a:solidFill>
                <a:latin typeface="Roboto Bold"/>
                <a:ea typeface="Roboto Bold"/>
                <a:cs typeface="Roboto Bold"/>
                <a:sym typeface="Roboto Bold"/>
              </a:rPr>
              <a:t>3. Nivel Profesional y Competencias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36976" y="7423595"/>
            <a:ext cx="446227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Nivel: Soporte Técnico Nivel 1</a:t>
            </a:r>
          </a:p>
          <a:p>
            <a:pPr algn="l">
              <a:lnSpc>
                <a:spcPts val="2166"/>
              </a:lnSpc>
            </a:pPr>
            <a:r>
              <a:rPr lang="en-US" sz="1805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(Fundamentos sólidos y disciplina en registro).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36976" y="8113205"/>
            <a:ext cx="501091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Herramientas que se dominan: Windows 10/11, Microsoft 365, clonación/imágenes, cableado</a:t>
            </a:r>
          </a:p>
          <a:p>
            <a:pPr algn="l">
              <a:lnSpc>
                <a:spcPts val="2166"/>
              </a:lnSpc>
            </a:pPr>
            <a:r>
              <a:rPr lang="en-US" sz="1805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 periféricos, soporte remoto y gestión de tickets.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36976" y="9028747"/>
            <a:ext cx="384048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Ruta de crecimiento (hacia L2): scripting, automatización, gestión de GPO/redes avanzadas y servidores.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705850" y="6429375"/>
            <a:ext cx="9372600" cy="3648075"/>
          </a:xfrm>
          <a:custGeom>
            <a:avLst/>
            <a:gdLst/>
            <a:ahLst/>
            <a:cxnLst/>
            <a:rect r="r" b="b" t="t" l="l"/>
            <a:pathLst>
              <a:path h="3648075" w="9372600">
                <a:moveTo>
                  <a:pt x="0" y="0"/>
                </a:moveTo>
                <a:lnTo>
                  <a:pt x="9372600" y="0"/>
                </a:lnTo>
                <a:lnTo>
                  <a:pt x="93726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144000" y="6858000"/>
            <a:ext cx="2181225" cy="2362200"/>
          </a:xfrm>
          <a:custGeom>
            <a:avLst/>
            <a:gdLst/>
            <a:ahLst/>
            <a:cxnLst/>
            <a:rect r="r" b="b" t="t" l="l"/>
            <a:pathLst>
              <a:path h="2362200" w="2181225">
                <a:moveTo>
                  <a:pt x="0" y="0"/>
                </a:moveTo>
                <a:lnTo>
                  <a:pt x="2181225" y="0"/>
                </a:lnTo>
                <a:lnTo>
                  <a:pt x="2181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353550" y="7286625"/>
            <a:ext cx="1752600" cy="1714500"/>
          </a:xfrm>
          <a:custGeom>
            <a:avLst/>
            <a:gdLst/>
            <a:ahLst/>
            <a:cxnLst/>
            <a:rect r="r" b="b" t="t" l="l"/>
            <a:pathLst>
              <a:path h="1714500" w="1752600">
                <a:moveTo>
                  <a:pt x="0" y="0"/>
                </a:moveTo>
                <a:lnTo>
                  <a:pt x="1752600" y="0"/>
                </a:lnTo>
                <a:lnTo>
                  <a:pt x="175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315700" y="6858000"/>
            <a:ext cx="228600" cy="3000375"/>
          </a:xfrm>
          <a:custGeom>
            <a:avLst/>
            <a:gdLst/>
            <a:ahLst/>
            <a:cxnLst/>
            <a:rect r="r" b="b" t="t" l="l"/>
            <a:pathLst>
              <a:path h="3000375" w="228600">
                <a:moveTo>
                  <a:pt x="0" y="0"/>
                </a:moveTo>
                <a:lnTo>
                  <a:pt x="228600" y="0"/>
                </a:lnTo>
                <a:lnTo>
                  <a:pt x="228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631168" y="6921055"/>
            <a:ext cx="40416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spc="-63" b="true">
                <a:solidFill>
                  <a:srgbClr val="37C9F4"/>
                </a:solidFill>
                <a:latin typeface="Roboto Bold"/>
                <a:ea typeface="Roboto Bold"/>
                <a:cs typeface="Roboto Bold"/>
                <a:sym typeface="Roboto Bold"/>
              </a:rPr>
              <a:t>4. Enfoque de la Presentación Final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31168" y="7442644"/>
            <a:ext cx="501091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Tema: Mesa de Servicio: orientada a usuarios corporativos</a:t>
            </a:r>
          </a:p>
          <a:p>
            <a:pPr algn="l">
              <a:lnSpc>
                <a:spcPts val="1911"/>
              </a:lnSpc>
            </a:pPr>
            <a:r>
              <a:rPr lang="en-US" sz="1592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 cumplimiento de SLAs.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31168" y="8246364"/>
            <a:ext cx="501091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450" spc="-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Propuesta de valor: cómo un diagnóstico rápido, empatía</a:t>
            </a:r>
          </a:p>
          <a:p>
            <a:pPr algn="l">
              <a:lnSpc>
                <a:spcPts val="1740"/>
              </a:lnSpc>
            </a:pPr>
            <a:r>
              <a:rPr lang="en-US" sz="1450" spc="-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 el usuario interno y el apegio estricto a los tiempos</a:t>
            </a:r>
          </a:p>
          <a:p>
            <a:pPr algn="l">
              <a:lnSpc>
                <a:spcPts val="1740"/>
              </a:lnSpc>
            </a:pPr>
            <a:r>
              <a:rPr lang="en-US" sz="1450" spc="-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 atención (SLA) aseguran la continuidad operativa del negocio.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631168" y="9131237"/>
            <a:ext cx="519379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Métricas clave: First Contact Resolution (FCR),</a:t>
            </a:r>
          </a:p>
          <a:p>
            <a:pPr algn="l">
              <a:lnSpc>
                <a:spcPts val="2166"/>
              </a:lnSpc>
            </a:pPr>
            <a:r>
              <a:rPr lang="en-US" sz="1805" spc="-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reducción de MTTR y satisfacción del usuario (CSAT).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20624" y="2346389"/>
            <a:ext cx="103327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spc="-7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Especialización, Análisis de Vacantes y Enfoque en SLAs (Equipo de 5)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236976" y="3526346"/>
            <a:ext cx="459028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spc="-62" b="true">
                <a:solidFill>
                  <a:srgbClr val="37C9F4"/>
                </a:solidFill>
                <a:latin typeface="Roboto Bold"/>
                <a:ea typeface="Roboto Bold"/>
                <a:cs typeface="Roboto Bold"/>
                <a:sym typeface="Roboto Bold"/>
              </a:rPr>
              <a:t>1. Especialización: Mesa de Servicio (L1)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DAHSTlgGW0w</dc:identifier>
  <dcterms:modified xsi:type="dcterms:W3CDTF">2011-08-01T06:04:30Z</dcterms:modified>
  <cp:revision>1</cp:revision>
</cp:coreProperties>
</file>