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-762000"/>
            <a:ext cx="3810000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2500" y="3524250"/>
            <a:ext cx="428625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236315"/>
            <a:ext cx="5676900" cy="2543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36315"/>
            <a:ext cx="5676900" cy="2543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931890"/>
            <a:ext cx="5676900" cy="2543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931890"/>
            <a:ext cx="5676900" cy="2543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1922115"/>
            <a:ext cx="5276850" cy="48369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2225" y="1922115"/>
            <a:ext cx="5276850" cy="48369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4617690"/>
            <a:ext cx="5276850" cy="483691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2225" y="4617690"/>
            <a:ext cx="5276850" cy="48369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2925" y="5196631"/>
            <a:ext cx="2590800" cy="122991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28975" y="5196631"/>
            <a:ext cx="2590800" cy="122991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2225" y="6347073"/>
            <a:ext cx="1708100" cy="42386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6525" y="6347073"/>
            <a:ext cx="1708100" cy="42386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40825" y="6347073"/>
            <a:ext cx="1708100" cy="42386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2900" y="266700"/>
            <a:ext cx="2147143" cy="2571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2900" y="581025"/>
            <a:ext cx="6405800" cy="293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2100" i="0" u="none">
                <a:solidFill>
                  <a:srgbClr val="0F172A"/>
                </a:solidFill>
                <a:latin typeface="Poppins ExtraBold"/>
              </a:rPr>
              <a:t>Mesa de Servicio y Soporte Técnico Nivel 1 (L1)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" y="893415"/>
            <a:ext cx="61007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Especialización Profesional, Investigación de Mercado, Evaluación de Nivel y Enfoque Corporativo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10775" y="518070"/>
            <a:ext cx="1838325" cy="2762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6725" y="342900"/>
            <a:ext cx="122039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44125" y="603795"/>
            <a:ext cx="1333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2925" y="1445865"/>
            <a:ext cx="361950" cy="3619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19175" y="1459259"/>
            <a:ext cx="19240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Parte A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72225" y="1445865"/>
            <a:ext cx="361950" cy="3619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48475" y="1459259"/>
            <a:ext cx="19240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9488"/>
                </a:solidFill>
                <a:latin typeface="Plus Jakarta Sans"/>
              </a:rPr>
              <a:t>Parte B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2925" y="4141440"/>
            <a:ext cx="361950" cy="3619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19175" y="4154834"/>
            <a:ext cx="24193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C3AED"/>
                </a:solidFill>
                <a:latin typeface="Plus Jakarta Sans"/>
              </a:rPr>
              <a:t>Parte C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72225" y="4141440"/>
            <a:ext cx="361950" cy="361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48475" y="4154834"/>
            <a:ext cx="245745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9669"/>
                </a:solidFill>
                <a:latin typeface="Plus Jakarta Sans"/>
              </a:rPr>
              <a:t>Parte D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" y="1550640"/>
            <a:ext cx="15240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9175" y="1611659"/>
            <a:ext cx="2020252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Poppins"/>
              </a:rPr>
              <a:t>Especialización Elegida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375" y="2501056"/>
            <a:ext cx="51054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Atención Directa: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Diagnóstico de fallas en SO (Windows/Linux), paquetería de oficina, contraseñas, periféricos y conectividad de red.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375" y="2878187"/>
            <a:ext cx="51054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Valor Operativo: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Garantiza la continuidad del negocio reduciendo tiempos de inactividad bajo la metodología ITIL.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375" y="3255317"/>
            <a:ext cx="51054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Flujo Estandarizado: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Registro, categorización, solución en primer nivel y escalamiento oportuno a N2/N3.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1550640"/>
            <a:ext cx="15240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48475" y="1611659"/>
            <a:ext cx="2020252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Poppins"/>
              </a:rPr>
              <a:t>Vacantes Investigadas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3675" y="2501056"/>
            <a:ext cx="51054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Perfiles Analizados: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Mesa Operativa, Help Desk Jr, Service Desk Analyst L1, Técnico TPV / Soporte en Campo.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3675" y="2878187"/>
            <a:ext cx="51054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Competencias Solicitadas: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Capacidad de documentación, soporte remoto/presencial y gestión de tickets.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72225" y="3274367"/>
            <a:ext cx="885825" cy="221158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305675" y="3274367"/>
            <a:ext cx="828675" cy="221158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81975" y="3274367"/>
            <a:ext cx="952500" cy="221158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82100" y="3274367"/>
            <a:ext cx="1009650" cy="221158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239375" y="3274367"/>
            <a:ext cx="590550" cy="221158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77550" y="3274367"/>
            <a:ext cx="723900" cy="221158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72225" y="3543151"/>
            <a:ext cx="923925" cy="221158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8650" y="4246215"/>
            <a:ext cx="190500" cy="152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19175" y="4307234"/>
            <a:ext cx="2540317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Poppins"/>
              </a:rPr>
              <a:t>Nivel Profesional Identificado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77000" y="4246215"/>
            <a:ext cx="152400" cy="152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848475" y="4307234"/>
            <a:ext cx="2580322" cy="182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b="1" sz="1200" i="0" u="none">
                <a:solidFill>
                  <a:srgbClr val="0F172A"/>
                </a:solidFill>
                <a:latin typeface="Poppins"/>
              </a:rPr>
              <a:t>Enfoque de Presentación Final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43675" y="5196631"/>
            <a:ext cx="51054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Acuerdos de Nivel de Servicio (SLA):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Garantizar tiempos de respuesta y solución alineados a la prioridad del negocio.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3675" y="5573762"/>
            <a:ext cx="51054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Resolución en Primer Contacto (FCR):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Maximizar soluciones inmediatas para evitar tiempos muertos en la organización.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43675" y="5950892"/>
            <a:ext cx="510540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1" sz="900" i="0" u="none">
                <a:solidFill>
                  <a:srgbClr val="0F172A"/>
                </a:solidFill>
                <a:latin typeface="Plus Jakarta Sans"/>
              </a:rPr>
              <a:t>Trazabilidad y Base de Conocimiento:</a:t>
            </a:r>
            <a:r>
              <a:rPr b="0" sz="900" i="0" u="none">
                <a:solidFill>
                  <a:srgbClr val="334155"/>
                </a:solidFill>
                <a:latin typeface="Plus Jakarta Sans"/>
              </a:rPr>
              <a:t> Bitácoras detalladas para alimentar el histórico y mejorar la eficiencia del equipo.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1025" y="2491531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2563EB"/>
                </a:solidFill>
                <a:latin typeface="Plus Jakarta Sans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1025" y="2868662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2563EB"/>
                </a:solidFill>
                <a:latin typeface="Plus Jakarta Sans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1025" y="3245792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2563EB"/>
                </a:solidFill>
                <a:latin typeface="Plus Jakarta Sans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0325" y="2491531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0D9488"/>
                </a:solidFill>
                <a:latin typeface="Plus Jakarta Sans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10325" y="2868662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0D9488"/>
                </a:solidFill>
                <a:latin typeface="Plus Jakarta Sans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" y="5282356"/>
            <a:ext cx="2228850" cy="1518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96"/>
              </a:lnSpc>
            </a:pPr>
            <a:r>
              <a:rPr b="1" sz="825" i="0" u="none">
                <a:solidFill>
                  <a:srgbClr val="7C3AED"/>
                </a:solidFill>
                <a:latin typeface="Poppins"/>
              </a:rPr>
              <a:t>Dominio Actual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95675" y="5282356"/>
            <a:ext cx="2219325" cy="1518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96"/>
              </a:lnSpc>
            </a:pPr>
            <a:r>
              <a:rPr b="1" sz="825" i="0" u="none">
                <a:solidFill>
                  <a:srgbClr val="64748B"/>
                </a:solidFill>
                <a:latin typeface="Poppins"/>
              </a:rPr>
              <a:t>En Desarrollo (L2)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10325" y="518710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10325" y="5564237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0325" y="5941367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7950" y="6413748"/>
            <a:ext cx="1536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50"/>
              </a:lnSpc>
            </a:pPr>
            <a:r>
              <a:rPr b="0" sz="1050" i="0" u="none">
                <a:solidFill>
                  <a:srgbClr val="059669"/>
                </a:solidFill>
                <a:latin typeface="Poppins ExtraBold"/>
              </a:rPr>
              <a:t>SLA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57950" y="6566148"/>
            <a:ext cx="1536650" cy="138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b="0" sz="750" i="0" u="none">
                <a:solidFill>
                  <a:srgbClr val="64748B"/>
                </a:solidFill>
                <a:latin typeface="Plus Jakarta Sans SemiBold"/>
              </a:rPr>
              <a:t>Cumplimiento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42250" y="6413748"/>
            <a:ext cx="1536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50"/>
              </a:lnSpc>
            </a:pPr>
            <a:r>
              <a:rPr b="0" sz="1050" i="0" u="none">
                <a:solidFill>
                  <a:srgbClr val="059669"/>
                </a:solidFill>
                <a:latin typeface="Poppins ExtraBold"/>
              </a:rPr>
              <a:t>FCR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42250" y="6566148"/>
            <a:ext cx="1536650" cy="138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b="0" sz="750" i="0" u="none">
                <a:solidFill>
                  <a:srgbClr val="64748B"/>
                </a:solidFill>
                <a:latin typeface="Plus Jakarta Sans SemiBold"/>
              </a:rPr>
              <a:t>Resolución 1er Contacto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26550" y="6413748"/>
            <a:ext cx="15366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50"/>
              </a:lnSpc>
            </a:pPr>
            <a:r>
              <a:rPr b="0" sz="1050" i="0" u="none">
                <a:solidFill>
                  <a:srgbClr val="059669"/>
                </a:solidFill>
                <a:latin typeface="Poppins ExtraBold"/>
              </a:rPr>
              <a:t>SPOC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26550" y="6566148"/>
            <a:ext cx="1536650" cy="138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b="0" sz="750" i="0" u="none">
                <a:solidFill>
                  <a:srgbClr val="64748B"/>
                </a:solidFill>
                <a:latin typeface="Plus Jakarta Sans SemiBold"/>
              </a:rPr>
              <a:t>Contacto Único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47700" y="5305871"/>
            <a:ext cx="104775" cy="104775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19150" y="5472261"/>
            <a:ext cx="22098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Plus Jakarta Sans"/>
              </a:rPr>
              <a:t>Windows 10/11 y M365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9150" y="5689401"/>
            <a:ext cx="22098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Plus Jakarta Sans"/>
              </a:rPr>
              <a:t>Sistemas de Tickets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9150" y="5906541"/>
            <a:ext cx="22098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Plus Jakarta Sans"/>
              </a:rPr>
              <a:t>Soporte Remoto (AnyDesk)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9150" y="6123682"/>
            <a:ext cx="22098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Plus Jakarta Sans"/>
              </a:rPr>
              <a:t>Hardware y Redes Básicas</a:t>
            </a:r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333750" y="5305871"/>
            <a:ext cx="114300" cy="10477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505200" y="5472261"/>
            <a:ext cx="22098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Plus Jakarta Sans"/>
              </a:rPr>
              <a:t>Scripting y Automatización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05200" y="5689401"/>
            <a:ext cx="22098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Plus Jakarta Sans"/>
              </a:rPr>
              <a:t>Gestión de GPO Avanzada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05200" y="5906541"/>
            <a:ext cx="22098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Plus Jakarta Sans"/>
              </a:rPr>
              <a:t>VLANs, VPNs y Servidores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5200" y="6123682"/>
            <a:ext cx="22098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Plus Jakarta Sans"/>
              </a:rPr>
              <a:t>Hardening y EDR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46273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7C3AED"/>
                </a:solidFill>
                <a:latin typeface="Plus Jakarta Sans"/>
              </a:rPr>
              <a:t>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567987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7C3AED"/>
                </a:solidFill>
                <a:latin typeface="Plus Jakarta San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89701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7C3AED"/>
                </a:solidFill>
                <a:latin typeface="Plus Jakarta Sans"/>
              </a:rPr>
              <a:t>•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6114157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7C3AED"/>
                </a:solidFill>
                <a:latin typeface="Plus Jakarta Sans"/>
              </a:rP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71850" y="546273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7C3AED"/>
                </a:solidFill>
                <a:latin typeface="Plus Jakarta Sans"/>
              </a:rPr>
              <a:t>•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71850" y="567987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7C3AED"/>
                </a:solidFill>
                <a:latin typeface="Plus Jakarta Sans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71850" y="5897016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7C3AED"/>
                </a:solidFill>
                <a:latin typeface="Plus Jakarta Sans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71850" y="6114157"/>
            <a:ext cx="857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1" sz="1050" i="0" u="none">
                <a:solidFill>
                  <a:srgbClr val="7C3AED"/>
                </a:solidFill>
                <a:latin typeface="Plus Jakarta Sans"/>
              </a:rPr>
              <a:t>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